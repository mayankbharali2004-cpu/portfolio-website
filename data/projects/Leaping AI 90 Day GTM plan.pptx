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4735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286000"/>
            <a:ext cx="5486400" cy="54864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00A896">
              <a:alpha val="12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82296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286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STRATEGY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2697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Leaping AI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822960" y="3886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0→1 GTM Playbook for an AI Voice Agent Platform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Sequencing  •  Channel Mix  •  Pricing Model  •  Sales Motion  •  90-Day Execution Plan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GTM thesis in one view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08792" cy="1188720"/>
          </a:xfrm>
          <a:prstGeom prst="roundRect">
            <a:avLst>
              <a:gd name="adj" fmla="val 6154"/>
            </a:avLst>
          </a:prstGeom>
          <a:solidFill>
            <a:srgbClr val="0B2A3D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78308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Thesis: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sales-led motion targeting mid-market contact center operators (100–2,000 employees) via founder-led outbound. Use paid pilots to de-risk adoption, prove ROI with real call data, and convert to usage-based annual contracts within 90 days.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2670048" cy="3063240"/>
          </a:xfrm>
          <a:prstGeom prst="roundRect">
            <a:avLst>
              <a:gd name="adj" fmla="val 2740"/>
            </a:avLst>
          </a:prstGeom>
          <a:solidFill>
            <a:srgbClr val="E8F4F3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7472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402336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8680" y="4434840"/>
            <a:ext cx="22128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contact centers with cloud infra; hiring freezes are the key trigger event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474720" y="3063240"/>
            <a:ext cx="2670048" cy="3063240"/>
          </a:xfrm>
          <a:prstGeom prst="roundRect">
            <a:avLst>
              <a:gd name="adj" fmla="val 2740"/>
            </a:avLst>
          </a:prstGeom>
          <a:solidFill>
            <a:srgbClr val="E8F4F3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703320" y="333756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347472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03320" y="402336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Motion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703320" y="4434840"/>
            <a:ext cx="22128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Sales-led with a paid pilot model to de-risk the first deals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309360" y="3063240"/>
            <a:ext cx="2670048" cy="3063240"/>
          </a:xfrm>
          <a:prstGeom prst="roundRect">
            <a:avLst>
              <a:gd name="adj" fmla="val 2740"/>
            </a:avLst>
          </a:prstGeom>
          <a:solidFill>
            <a:srgbClr val="E8F4F3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37960" y="333756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34747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37960" y="402336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Channel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537960" y="4434840"/>
            <a:ext cx="22128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 outbound: LinkedIn + email (ICE score: 504)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9144000" y="3063240"/>
            <a:ext cx="2670048" cy="3063240"/>
          </a:xfrm>
          <a:prstGeom prst="roundRect">
            <a:avLst>
              <a:gd name="adj" fmla="val 2740"/>
            </a:avLst>
          </a:prstGeom>
          <a:solidFill>
            <a:srgbClr val="E8F4F3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372600" y="333756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0" y="347472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72600" y="402336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9372600" y="4434840"/>
            <a:ext cx="22128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model: base platform fee plus usage-based per-minute rate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640080" y="63550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$100K+ ARR booked and a repeatable, documented GTM playbook by Day 90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Leaping AI does, in plain English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931920" cy="4663440"/>
          </a:xfrm>
          <a:prstGeom prst="roundRect">
            <a:avLst>
              <a:gd name="adj" fmla="val 1860"/>
            </a:avLst>
          </a:prstGeom>
          <a:solidFill>
            <a:srgbClr val="0B2A3D"/>
          </a:solidFill>
          <a:ln/>
        </p:spPr>
      </p:sp>
      <p:sp>
        <p:nvSpPr>
          <p:cNvPr id="5" name="Shape 3"/>
          <p:cNvSpPr/>
          <p:nvPr/>
        </p:nvSpPr>
        <p:spPr>
          <a:xfrm>
            <a:off x="1600200" y="2468880"/>
            <a:ext cx="2011680" cy="2011680"/>
          </a:xfrm>
          <a:prstGeom prst="ellipse">
            <a:avLst/>
          </a:prstGeom>
          <a:solidFill>
            <a:srgbClr val="028090">
              <a:alpha val="75000"/>
            </a:srgbClr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306324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48463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Agents for</a:t>
            </a:r>
            <a:endParaRPr lang="en-US" sz="18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Centers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56692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up to 70% of inbound calls while maintaining 90%+ customer satisfaction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46320" y="1737360"/>
            <a:ext cx="594360" cy="594360"/>
          </a:xfrm>
          <a:prstGeom prst="ellipse">
            <a:avLst/>
          </a:prstGeom>
          <a:solidFill>
            <a:srgbClr val="E8F4F3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1883664"/>
            <a:ext cx="301752" cy="3017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23560" y="16916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Natural, human-like conversations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623560" y="207568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billing queries, order status, returns, and FAQs with conversational AI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846320" y="2898648"/>
            <a:ext cx="594360" cy="594360"/>
          </a:xfrm>
          <a:prstGeom prst="ellipse">
            <a:avLst/>
          </a:prstGeom>
          <a:solidFill>
            <a:srgbClr val="E8F4F3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2624" y="3044952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623560" y="285292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Plugs into existing infrastructure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5623560" y="3236976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with Zendesk, Salesforce, and cloud telephony — no rip-and-replace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4846320" y="4059936"/>
            <a:ext cx="594360" cy="594360"/>
          </a:xfrm>
          <a:prstGeom prst="ellipse">
            <a:avLst/>
          </a:prstGeom>
          <a:solidFill>
            <a:srgbClr val="E8F4F3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2624" y="4206240"/>
            <a:ext cx="301752" cy="30175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623560" y="401421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CSAT-safe automation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5623560" y="4398264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90% customer satisfaction by escalating complex cases to human agents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4846320" y="5221224"/>
            <a:ext cx="594360" cy="594360"/>
          </a:xfrm>
          <a:prstGeom prst="ellipse">
            <a:avLst/>
          </a:prstGeom>
          <a:solidFill>
            <a:srgbClr val="E8F4F3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2624" y="5367528"/>
            <a:ext cx="301752" cy="30175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623560" y="517550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cost reduction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5623560" y="555955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cost-per-call from $8–12 down to a fraction — ROI is visible within weeks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Opportunity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 — the cost pressure on contact centers is structural, not cyclical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E8F4F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$8–$12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per human-handled call today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16552" y="169164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E8F4F3"/>
          </a:solidFill>
          <a:ln/>
        </p:spPr>
      </p:sp>
      <p:sp>
        <p:nvSpPr>
          <p:cNvPr id="8" name="Text 6"/>
          <p:cNvSpPr/>
          <p:nvPr/>
        </p:nvSpPr>
        <p:spPr>
          <a:xfrm>
            <a:off x="4416552" y="178308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690872" y="26974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inbound calls are repetitive and automatable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93024" y="169164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E8F4F3"/>
          </a:solidFill>
          <a:ln/>
        </p:spPr>
      </p:sp>
      <p:sp>
        <p:nvSpPr>
          <p:cNvPr id="11" name="Text 9"/>
          <p:cNvSpPr/>
          <p:nvPr/>
        </p:nvSpPr>
        <p:spPr>
          <a:xfrm>
            <a:off x="8193024" y="178308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8467344" y="26974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maintained with AI-handled calls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703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Trigger Events — when companies become receptive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4206240"/>
            <a:ext cx="272491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434840"/>
            <a:ext cx="548640" cy="548640"/>
          </a:xfrm>
          <a:prstGeom prst="ellipse">
            <a:avLst/>
          </a:prstGeom>
          <a:solidFill>
            <a:srgbClr val="0B2A3D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572000"/>
            <a:ext cx="274320" cy="2743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68680" y="512064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Recently raised a funding round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502152" y="4206240"/>
            <a:ext cx="272491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30752" y="4434840"/>
            <a:ext cx="548640" cy="548640"/>
          </a:xfrm>
          <a:prstGeom prst="ellipse">
            <a:avLst/>
          </a:prstGeom>
          <a:solidFill>
            <a:srgbClr val="0B2A3D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7912" y="4572000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730752" y="512064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freeze announced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364224" y="4206240"/>
            <a:ext cx="272491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592824" y="4434840"/>
            <a:ext cx="548640" cy="548640"/>
          </a:xfrm>
          <a:prstGeom prst="ellipse">
            <a:avLst/>
          </a:prstGeom>
          <a:solidFill>
            <a:srgbClr val="0B2A3D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984" y="4572000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592824" y="512064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CX / Ops leader joined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9226296" y="4206240"/>
            <a:ext cx="272491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454896" y="4434840"/>
            <a:ext cx="548640" cy="548640"/>
          </a:xfrm>
          <a:prstGeom prst="ellipse">
            <a:avLst/>
          </a:prstGeom>
          <a:solidFill>
            <a:srgbClr val="0B2A3D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56" y="4572000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454896" y="512064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season approaching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640080" y="61264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now: AI voice quality has crossed the threshold where CSAT no longer drops — removing the #1 historical objection to automation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ICP &amp; Buyer Personas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sell to, and who decides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Customer Profile (4 Layers)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5486400" cy="38404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Firmographic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100–2,000 employees, BFSI/Telecom/E-commerce, US/UK/ANZ, $10M–$500M revenue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Technographic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Already uses Zendesk/Salesforce + cloud telephony — no legacy on-prem PBX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Psychographic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Buyer is under CFO pressure to cut opex but fears CSAT drops from automation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 Events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Hiring freeze, recent funding round, new CX leader, or approaching peak season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640080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Committee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0" y="2011680"/>
            <a:ext cx="5148072" cy="1417320"/>
          </a:xfrm>
          <a:prstGeom prst="roundRect">
            <a:avLst>
              <a:gd name="adj" fmla="val 5161"/>
            </a:avLst>
          </a:prstGeom>
          <a:solidFill>
            <a:srgbClr val="E8F4F3"/>
          </a:solidFill>
          <a:ln/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629400" y="221284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704" y="235915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60920" y="21305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Operations / CX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7360920" y="24414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Buyer — signs contract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360920" y="276148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“Cut cost-per-call by 70% without touching CSAT”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0" y="3566160"/>
            <a:ext cx="5148072" cy="1417320"/>
          </a:xfrm>
          <a:prstGeom prst="roundRect">
            <a:avLst>
              <a:gd name="adj" fmla="val 5161"/>
            </a:avLst>
          </a:prstGeom>
          <a:solidFill>
            <a:srgbClr val="E8F4F3"/>
          </a:solidFill>
          <a:ln/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629400" y="376732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5704" y="3913632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60920" y="36850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/ Contact Center Mgr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7360920" y="39959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— internal ally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7360920" y="431596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“AI takes repetitive calls, your team handles complex ones”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0" y="5120640"/>
            <a:ext cx="5148072" cy="1417320"/>
          </a:xfrm>
          <a:prstGeom prst="roundRect">
            <a:avLst>
              <a:gd name="adj" fmla="val 5161"/>
            </a:avLst>
          </a:prstGeom>
          <a:solidFill>
            <a:srgbClr val="E8F4F3"/>
          </a:solidFill>
          <a:ln/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29400" y="532180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5704" y="546811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52395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/ Finance Lead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60920" y="55504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— approves budget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7360920" y="587044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“ROI-positive within 60 days based on call volume”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Motion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Sales-led with a paid pilot model — the 5-stage journey from awareness to expansion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08792" cy="777240"/>
          </a:xfrm>
          <a:prstGeom prst="roundRect">
            <a:avLst>
              <a:gd name="adj" fmla="val 9412"/>
            </a:avLst>
          </a:prstGeom>
          <a:solidFill>
            <a:srgbClr val="0B2A3D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002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sales-led, not PLG: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live call-center operations requires integration, trust, and a controlled rollout — not a self-serve signup. High potential ACV ($30K–$500K) justifies a human-led process.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2103120" cy="35204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8346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288036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4672" y="34747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04672" y="393192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Ops discovers Leaping AI via outbound LinkedIn/email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04672" y="57150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47772" y="4206240"/>
            <a:ext cx="155448" cy="1554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Shape 11"/>
          <p:cNvSpPr/>
          <p:nvPr/>
        </p:nvSpPr>
        <p:spPr>
          <a:xfrm>
            <a:off x="2907792" y="2606040"/>
            <a:ext cx="2103120" cy="35204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072384" y="28346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3"/>
          <p:cNvSpPr/>
          <p:nvPr/>
        </p:nvSpPr>
        <p:spPr>
          <a:xfrm>
            <a:off x="3072384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552" y="2880360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072384" y="34747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+ Demo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3072384" y="393192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 qualifies call volume, runs live demo with ROI calculator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3072384" y="57150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015484" y="4206240"/>
            <a:ext cx="155448" cy="1554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Shape 18"/>
          <p:cNvSpPr/>
          <p:nvPr/>
        </p:nvSpPr>
        <p:spPr>
          <a:xfrm>
            <a:off x="5175504" y="2606040"/>
            <a:ext cx="2103120" cy="3520440"/>
          </a:xfrm>
          <a:prstGeom prst="roundRect">
            <a:avLst>
              <a:gd name="adj" fmla="val 3478"/>
            </a:avLst>
          </a:prstGeom>
          <a:solidFill>
            <a:srgbClr val="E8F4F3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340096" y="28346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0"/>
          <p:cNvSpPr/>
          <p:nvPr/>
        </p:nvSpPr>
        <p:spPr>
          <a:xfrm>
            <a:off x="5340096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264" y="2880360"/>
            <a:ext cx="411480" cy="41148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340096" y="34747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Pilot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5340096" y="393192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pilot on 10–15% of call volume — real data, low risk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5340096" y="57150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3–6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7283196" y="4206240"/>
            <a:ext cx="155448" cy="1554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0" name="Shape 25"/>
          <p:cNvSpPr/>
          <p:nvPr/>
        </p:nvSpPr>
        <p:spPr>
          <a:xfrm>
            <a:off x="7443216" y="2606040"/>
            <a:ext cx="2103120" cy="35204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7607808" y="28346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2" name="Text 27"/>
          <p:cNvSpPr/>
          <p:nvPr/>
        </p:nvSpPr>
        <p:spPr>
          <a:xfrm>
            <a:off x="7607808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1976" y="2880360"/>
            <a:ext cx="411480" cy="41148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607808" y="34747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500" dirty="0"/>
          </a:p>
        </p:txBody>
      </p:sp>
      <p:sp>
        <p:nvSpPr>
          <p:cNvPr id="35" name="Text 29"/>
          <p:cNvSpPr/>
          <p:nvPr/>
        </p:nvSpPr>
        <p:spPr>
          <a:xfrm>
            <a:off x="7607808" y="393192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results become the pitch — CFO and legal sign annual contract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7607808" y="57150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7–10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9550908" y="4206240"/>
            <a:ext cx="155448" cy="1554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8" name="Shape 32"/>
          <p:cNvSpPr/>
          <p:nvPr/>
        </p:nvSpPr>
        <p:spPr>
          <a:xfrm>
            <a:off x="9710928" y="2606040"/>
            <a:ext cx="2103120" cy="35204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9875520" y="28346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0" name="Text 34"/>
          <p:cNvSpPr/>
          <p:nvPr/>
        </p:nvSpPr>
        <p:spPr>
          <a:xfrm>
            <a:off x="987552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19688" y="2880360"/>
            <a:ext cx="411480" cy="41148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9875520" y="34747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500" dirty="0"/>
          </a:p>
        </p:txBody>
      </p:sp>
      <p:sp>
        <p:nvSpPr>
          <p:cNvPr id="43" name="Text 36"/>
          <p:cNvSpPr/>
          <p:nvPr/>
        </p:nvSpPr>
        <p:spPr>
          <a:xfrm>
            <a:off x="9875520" y="393192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on one call type, expand to all queues, then cross-sell</a:t>
            </a:r>
            <a:endParaRPr lang="en-US" sz="1150" dirty="0"/>
          </a:p>
        </p:txBody>
      </p:sp>
      <p:sp>
        <p:nvSpPr>
          <p:cNvPr id="44" name="Text 37"/>
          <p:cNvSpPr/>
          <p:nvPr/>
        </p:nvSpPr>
        <p:spPr>
          <a:xfrm>
            <a:off x="9875520" y="57150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3+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 Strategy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ICE-scored channel prioritization (Impact × Confidence × Ease, each 1–10)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08792" cy="352044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733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ICE Score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Outbound LinkedIn / Email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first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Referrals from customers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 early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events (CCW)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2+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integrations (Zendesk)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3+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LinkedIn Ads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PMF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SEO / Content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6+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669280"/>
            <a:ext cx="10908792" cy="822960"/>
          </a:xfrm>
          <a:prstGeom prst="roundRect">
            <a:avLst>
              <a:gd name="adj" fmla="val 8889"/>
            </a:avLst>
          </a:prstGeom>
          <a:solidFill>
            <a:srgbClr val="0B2A3D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56692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principle: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0→1, do things that don’t scale. Outbound and founder-led referrals (highest ICE scores) come first — paid ads and SEO only after the pitch is proven and there are results to amplify.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model: predictable base fee + usage-based scaling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611880" cy="2788920"/>
          </a:xfrm>
          <a:prstGeom prst="roundRect">
            <a:avLst>
              <a:gd name="adj" fmla="val 2623"/>
            </a:avLst>
          </a:prstGeom>
          <a:solidFill>
            <a:srgbClr val="E8F4F3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74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$3,000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30 days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call minutes • 1 use case • weekly check-ins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1605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prospect — de-risks first deal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16552" y="1691640"/>
            <a:ext cx="3611880" cy="2788920"/>
          </a:xfrm>
          <a:prstGeom prst="roundRect">
            <a:avLst>
              <a:gd name="adj" fmla="val 2623"/>
            </a:avLst>
          </a:prstGeom>
          <a:solidFill>
            <a:srgbClr val="0B2A3D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90872" y="1874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90872" y="22402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$4,000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690872" y="29260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 + $0.08/min over 20K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690872" y="33375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Multi-queue deployment • dashboard • integrations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90872" y="41605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(100–500 employees)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93024" y="1691640"/>
            <a:ext cx="3611880" cy="2788920"/>
          </a:xfrm>
          <a:prstGeom prst="roundRect">
            <a:avLst>
              <a:gd name="adj" fmla="val 2623"/>
            </a:avLst>
          </a:prstGeom>
          <a:solidFill>
            <a:srgbClr val="E8F4F3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67344" y="1874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67344" y="22402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$12,000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467344" y="29260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 + $0.06/min over 75K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467344" y="33375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queues • dedicated CSM • custom voice/brand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67344" y="41605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(500+ employees)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663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Rationale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" y="5074920"/>
            <a:ext cx="27249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5230368"/>
            <a:ext cx="237744" cy="23774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04672" y="5486400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tier removes the #1 objection — risk — by capping cost and proving results with real data first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502152" y="5074920"/>
            <a:ext cx="27249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744" y="5230368"/>
            <a:ext cx="237744" cy="23774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3666744" y="5486400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+ usage gives predictable MRR while letting revenue grow naturally with customer volume (solves NRR)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364224" y="5074920"/>
            <a:ext cx="27249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5230368"/>
            <a:ext cx="237744" cy="237744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528816" y="5486400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Per-minute rate decreases at scale ($0.08→$0.06), incentivizing larger commitments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9226296" y="5074920"/>
            <a:ext cx="27249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0888" y="5230368"/>
            <a:ext cx="237744" cy="237744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390888" y="5486400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to savings, not build cost: $0.08/min vs. $0.30–0.50/min fully-loaded human agent cost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Sequencing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depends on the one before it — skipping steps is the #1 reason 0→1 GTM fails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103120" cy="3017520"/>
          </a:xfrm>
          <a:prstGeom prst="roundRect">
            <a:avLst>
              <a:gd name="adj" fmla="val 3478"/>
            </a:avLst>
          </a:prstGeom>
          <a:solidFill>
            <a:srgbClr val="0B2A3D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659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1031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06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4672" y="28803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Readiness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4672" y="361188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deliver reliably? Demo script + ROI calculator finalized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747772" y="3108960"/>
            <a:ext cx="155448" cy="1554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Shape 8"/>
          <p:cNvSpPr/>
          <p:nvPr/>
        </p:nvSpPr>
        <p:spPr>
          <a:xfrm>
            <a:off x="2907792" y="1737360"/>
            <a:ext cx="2103120" cy="3017520"/>
          </a:xfrm>
          <a:prstGeom prst="roundRect">
            <a:avLst>
              <a:gd name="adj" fmla="val 3478"/>
            </a:avLst>
          </a:prstGeom>
          <a:solidFill>
            <a:srgbClr val="E8F4F3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072384" y="19659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9544" y="210312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072384" y="2606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072384" y="28803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 Validation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072384" y="361188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know who buys and why? Validated via 20–30 discovery conversations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015484" y="3108960"/>
            <a:ext cx="155448" cy="1554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Shape 14"/>
          <p:cNvSpPr/>
          <p:nvPr/>
        </p:nvSpPr>
        <p:spPr>
          <a:xfrm>
            <a:off x="5175504" y="1737360"/>
            <a:ext cx="2103120" cy="3017520"/>
          </a:xfrm>
          <a:prstGeom prst="roundRect">
            <a:avLst>
              <a:gd name="adj" fmla="val 3478"/>
            </a:avLst>
          </a:prstGeom>
          <a:solidFill>
            <a:srgbClr val="E8F4F3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340096" y="19659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7256" y="210312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340096" y="2606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5340096" y="28803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Channel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5340096" y="361188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find them repeatedly? Outbound engine running at volume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7283196" y="3108960"/>
            <a:ext cx="155448" cy="1554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Shape 20"/>
          <p:cNvSpPr/>
          <p:nvPr/>
        </p:nvSpPr>
        <p:spPr>
          <a:xfrm>
            <a:off x="7443216" y="1737360"/>
            <a:ext cx="2103120" cy="3017520"/>
          </a:xfrm>
          <a:prstGeom prst="roundRect">
            <a:avLst>
              <a:gd name="adj" fmla="val 3478"/>
            </a:avLst>
          </a:prstGeom>
          <a:solidFill>
            <a:srgbClr val="E8F4F3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607808" y="19659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4968" y="2103120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607808" y="2606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7607808" y="28803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Close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7607808" y="361188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close consistently? Sales motion + pricing locked and proven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9550908" y="3108960"/>
            <a:ext cx="155448" cy="1554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2" name="Shape 26"/>
          <p:cNvSpPr/>
          <p:nvPr/>
        </p:nvSpPr>
        <p:spPr>
          <a:xfrm>
            <a:off x="9710928" y="1737360"/>
            <a:ext cx="2103120" cy="3017520"/>
          </a:xfrm>
          <a:prstGeom prst="roundRect">
            <a:avLst>
              <a:gd name="adj" fmla="val 3478"/>
            </a:avLst>
          </a:prstGeom>
          <a:solidFill>
            <a:srgbClr val="E8F4F3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9875520" y="19659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12680" y="2103120"/>
            <a:ext cx="274320" cy="27432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875520" y="2606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50" dirty="0"/>
          </a:p>
        </p:txBody>
      </p:sp>
      <p:sp>
        <p:nvSpPr>
          <p:cNvPr id="36" name="Text 29"/>
          <p:cNvSpPr/>
          <p:nvPr/>
        </p:nvSpPr>
        <p:spPr>
          <a:xfrm>
            <a:off x="9875520" y="28803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What Works</a:t>
            </a:r>
            <a:endParaRPr lang="en-US" sz="1500" dirty="0"/>
          </a:p>
        </p:txBody>
      </p:sp>
      <p:sp>
        <p:nvSpPr>
          <p:cNvPr id="37" name="Text 30"/>
          <p:cNvSpPr/>
          <p:nvPr/>
        </p:nvSpPr>
        <p:spPr>
          <a:xfrm>
            <a:off x="9875520" y="361188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channels, hire AEs, automate — only once Step 4 is repeatable</a:t>
            </a:r>
            <a:endParaRPr lang="en-US" sz="1150" dirty="0"/>
          </a:p>
        </p:txBody>
      </p:sp>
      <p:sp>
        <p:nvSpPr>
          <p:cNvPr id="38" name="Text 31"/>
          <p:cNvSpPr/>
          <p:nvPr/>
        </p:nvSpPr>
        <p:spPr>
          <a:xfrm>
            <a:off x="640080" y="4983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90-Day Phase Shift</a:t>
            </a:r>
            <a:endParaRPr lang="en-US" sz="1500" dirty="0"/>
          </a:p>
        </p:txBody>
      </p:sp>
      <p:sp>
        <p:nvSpPr>
          <p:cNvPr id="39" name="Shape 32"/>
          <p:cNvSpPr/>
          <p:nvPr/>
        </p:nvSpPr>
        <p:spPr>
          <a:xfrm>
            <a:off x="640080" y="539496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Text 33"/>
          <p:cNvSpPr/>
          <p:nvPr/>
        </p:nvSpPr>
        <p:spPr>
          <a:xfrm>
            <a:off x="868680" y="55321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 — </a:t>
            </a:r>
            <a:r>
              <a:rPr lang="en-US" sz="13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350" dirty="0"/>
          </a:p>
        </p:txBody>
      </p:sp>
      <p:sp>
        <p:nvSpPr>
          <p:cNvPr id="41" name="Text 34"/>
          <p:cNvSpPr/>
          <p:nvPr/>
        </p:nvSpPr>
        <p:spPr>
          <a:xfrm>
            <a:off x="868680" y="58521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20–30 prospects, refine pitch and ICP</a:t>
            </a:r>
            <a:endParaRPr lang="en-US" sz="1150" dirty="0"/>
          </a:p>
        </p:txBody>
      </p:sp>
      <p:sp>
        <p:nvSpPr>
          <p:cNvPr id="42" name="Shape 35"/>
          <p:cNvSpPr/>
          <p:nvPr/>
        </p:nvSpPr>
        <p:spPr>
          <a:xfrm>
            <a:off x="4416552" y="539496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Text 36"/>
          <p:cNvSpPr/>
          <p:nvPr/>
        </p:nvSpPr>
        <p:spPr>
          <a:xfrm>
            <a:off x="4645152" y="55321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 — </a:t>
            </a:r>
            <a:r>
              <a:rPr lang="en-US" sz="13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350" dirty="0"/>
          </a:p>
        </p:txBody>
      </p:sp>
      <p:sp>
        <p:nvSpPr>
          <p:cNvPr id="44" name="Text 37"/>
          <p:cNvSpPr/>
          <p:nvPr/>
        </p:nvSpPr>
        <p:spPr>
          <a:xfrm>
            <a:off x="4645152" y="58521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engine running, 3–5 pilots live</a:t>
            </a:r>
            <a:endParaRPr lang="en-US" sz="1150" dirty="0"/>
          </a:p>
        </p:txBody>
      </p:sp>
      <p:sp>
        <p:nvSpPr>
          <p:cNvPr id="45" name="Shape 38"/>
          <p:cNvSpPr/>
          <p:nvPr/>
        </p:nvSpPr>
        <p:spPr>
          <a:xfrm>
            <a:off x="8193024" y="539496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6" name="Text 39"/>
          <p:cNvSpPr/>
          <p:nvPr/>
        </p:nvSpPr>
        <p:spPr>
          <a:xfrm>
            <a:off x="8421624" y="55321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 — </a:t>
            </a:r>
            <a:r>
              <a:rPr lang="en-US" sz="13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Systematize</a:t>
            </a:r>
            <a:endParaRPr lang="en-US" sz="1350" dirty="0"/>
          </a:p>
        </p:txBody>
      </p:sp>
      <p:sp>
        <p:nvSpPr>
          <p:cNvPr id="47" name="Text 40"/>
          <p:cNvSpPr/>
          <p:nvPr/>
        </p:nvSpPr>
        <p:spPr>
          <a:xfrm>
            <a:off x="8421624" y="58521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pilots, document the repeatable playbook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90-Day Execution Plan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are outcomes, not activities — each unlocks the next phase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0B2A3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1–30: Foundation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611880" cy="2377440"/>
          </a:xfrm>
          <a:prstGeom prst="roundRect">
            <a:avLst>
              <a:gd name="adj" fmla="val 3077"/>
            </a:avLst>
          </a:prstGeom>
          <a:solidFill>
            <a:srgbClr val="E8F4F3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514600"/>
            <a:ext cx="320954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Wk1: Finalize demo, ROI calculator, target list of 100 accounts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Wk2: Founder-led outbound — 30 LinkedIn msgs/day to VP Ops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Wk3-4: Run discovery calls, refine pitch from objections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480060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9834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49651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41248" y="5285232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signed pilots ($9K booked revenue)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416552" y="1691640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0B2A3D"/>
          </a:solidFill>
          <a:ln/>
        </p:spPr>
      </p:sp>
      <p:sp>
        <p:nvSpPr>
          <p:cNvPr id="13" name="Text 10"/>
          <p:cNvSpPr/>
          <p:nvPr/>
        </p:nvSpPr>
        <p:spPr>
          <a:xfrm>
            <a:off x="4599432" y="16916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31–60: Find the Engine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416552" y="2331720"/>
            <a:ext cx="3611880" cy="2377440"/>
          </a:xfrm>
          <a:prstGeom prst="roundRect">
            <a:avLst>
              <a:gd name="adj" fmla="val 3077"/>
            </a:avLst>
          </a:prstGeom>
          <a:solidFill>
            <a:srgbClr val="E8F4F3"/>
          </a:solidFill>
          <a:ln/>
        </p:spPr>
      </p:sp>
      <p:sp>
        <p:nvSpPr>
          <p:cNvPr id="15" name="Text 12"/>
          <p:cNvSpPr/>
          <p:nvPr/>
        </p:nvSpPr>
        <p:spPr>
          <a:xfrm>
            <a:off x="4617720" y="2514600"/>
            <a:ext cx="320954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Wk5-6: Deploy pilots, weekly check-ins, track CSAT + resolution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Wk7: Continue outbound — 5 more pilots signed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Wk8: Mid-pilot review, document what's working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416552" y="480060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4983480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010912" y="49651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617720" y="5285232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total pilots running, first pilot showing data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8193024" y="1691640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0B2A3D"/>
          </a:solidFill>
          <a:ln/>
        </p:spPr>
      </p:sp>
      <p:sp>
        <p:nvSpPr>
          <p:cNvPr id="21" name="Text 17"/>
          <p:cNvSpPr/>
          <p:nvPr/>
        </p:nvSpPr>
        <p:spPr>
          <a:xfrm>
            <a:off x="8375904" y="16916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61–90: Prove Repeatability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8193024" y="2331720"/>
            <a:ext cx="3611880" cy="2377440"/>
          </a:xfrm>
          <a:prstGeom prst="roundRect">
            <a:avLst>
              <a:gd name="adj" fmla="val 3077"/>
            </a:avLst>
          </a:prstGeom>
          <a:solidFill>
            <a:srgbClr val="E8F4F3"/>
          </a:solidFill>
          <a:ln/>
        </p:spPr>
      </p:sp>
      <p:sp>
        <p:nvSpPr>
          <p:cNvPr id="23" name="Text 19"/>
          <p:cNvSpPr/>
          <p:nvPr/>
        </p:nvSpPr>
        <p:spPr>
          <a:xfrm>
            <a:off x="8394192" y="2514600"/>
            <a:ext cx="320954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Wk9-10: Convert first 3 pilots to annual contracts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Wk11: Build case study from best-performing pilot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Wk12: Document full GTM playbook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8193024" y="480060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4983480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787384" y="49651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8394192" y="5285232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$100K+ ARR booked, repeatable playbook documented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640080" y="62179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Top-of-funnel never stops: outbound continues at full pace through every phase, even while pilots are being delivered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Metrics Dashboard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track at each stage — each metric should predict the next stage's outcome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08792" cy="41148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6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90 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of Funnel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Outbound messages sent/week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Leading indicator — no pipeline without this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150/week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Reply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Tells you if messaging resonates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 calls booked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 from outreach to interest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15–20 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conversion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discovery calls → paid pilot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&gt;25%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/ Delivery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automation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product metric — % of calls AI fully handles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60–70%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CSAT score (AI-handled)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#1 fear metric — must stay 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&gt;85%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Pilots → Contracts conversion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real GTM validation 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&gt;40%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 booked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ultimate scoreboard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943600"/>
            <a:ext cx="10908792" cy="594360"/>
          </a:xfrm>
          <a:prstGeom prst="roundRect">
            <a:avLst>
              <a:gd name="adj" fmla="val 12308"/>
            </a:avLst>
          </a:prstGeom>
          <a:solidFill>
            <a:srgbClr val="0B2A3D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594360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metric doesn't predict a downstream outcome, it's vanity — don't track it.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657600"/>
            <a:ext cx="4572000" cy="4572000"/>
          </a:xfrm>
          <a:prstGeom prst="ellipse">
            <a:avLst/>
          </a:prstGeom>
          <a:solidFill>
            <a:srgbClr val="00A89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Day 90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looks like this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28090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116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$100K+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51560" y="28346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booked from 2–3 converted pilots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593592" y="19202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28090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593592" y="20116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822192" y="28346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pilots run, proving the pitch works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64224" y="19202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28090">
              <a:alpha val="8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364224" y="20116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&gt;85%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592824" y="28346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maintained on AI-handled calls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34856" y="19202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28090">
              <a:alpha val="8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134856" y="20116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9363456" y="28346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Documented, repeatable GTM playbook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3977640"/>
            <a:ext cx="1054303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4206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unlocks next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4617720"/>
            <a:ext cx="99943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the first AE</a:t>
            </a:r>
            <a:endParaRPr lang="en-US" sz="130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scale outbound beyond founder-led capacity, using the documented playbook as onboarding material.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in Marketing-led + Partner-led motions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publish ROI case studies for inbound, and explore Zendesk/Genesys integration partnerships for warm pipeline.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1473</Words>
  <Application>Microsoft Office PowerPoint</Application>
  <PresentationFormat>Widescreen</PresentationFormat>
  <Paragraphs>261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Leaping AI - Full GTM Strategy (0 to 1)</dc:title>
  <dc:subject>PptxGenJS Presentation</dc:subject>
  <dc:creator>GTM Strategy</dc:creator>
  <cp:lastModifiedBy>Mayank Bharali</cp:lastModifiedBy>
  <cp:revision>1</cp:revision>
  <dcterms:created xsi:type="dcterms:W3CDTF">2026-06-13T13:07:56Z</dcterms:created>
  <dcterms:modified xsi:type="dcterms:W3CDTF">2026-06-13T13:54:20Z</dcterms:modified>
</cp:coreProperties>
</file>